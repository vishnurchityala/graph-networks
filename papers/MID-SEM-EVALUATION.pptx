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94"/>
  </p:normalViewPr>
  <p:slideViewPr>
    <p:cSldViewPr snapToGrid="0">
      <p:cViewPr varScale="1">
        <p:scale>
          <a:sx n="121" d="100"/>
          <a:sy n="121" d="100"/>
        </p:scale>
        <p:origin x="3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E4470-833C-A07D-2E70-83CDBDA6E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611E17-5AC7-DB32-43D9-79E0AA47E8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2C4EC-E06A-07DA-89C0-305AB94F7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FE41-8996-234B-B72D-C30FC0DB1D7E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0C52E-2132-42BA-EEE6-7E6AFE39F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7775A-2F86-187F-F6C6-968036410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D86D-63DD-0A42-A9AF-3A542F501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57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AFF83-7B2A-0379-32C8-AF4DA5DCD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40591-6AB3-4FF9-B18A-0594DE511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67624-96C8-5EAB-B566-8E46FEDDA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FE41-8996-234B-B72D-C30FC0DB1D7E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53206-8E29-C655-96BA-D89F7FB47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35AC1-404C-905E-D58E-565EE7F4F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D86D-63DD-0A42-A9AF-3A542F501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823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07D8D-568F-0D42-D71F-7D0399A46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F6D1B-E1F4-72E8-D2B7-E314F0CEF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961E1-9D9F-898E-0C76-A7A00CF36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FE41-8996-234B-B72D-C30FC0DB1D7E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29D49-B4E4-08AB-6CC7-416B4271C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45374-9283-2107-2359-8C62A44D7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D86D-63DD-0A42-A9AF-3A542F501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19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A2F39-2BE2-DF09-5FB6-97991BFBD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2C4A6-4EF7-5294-0D01-BDF239D0F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FAFE2-E5C0-9329-17CC-0DAABB2D6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E1634F-27CB-6730-2842-DC84BDD2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FE41-8996-234B-B72D-C30FC0DB1D7E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0484D-05D3-EA4E-AC28-44DEEDA9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4CAE0-954A-0A51-B4E5-CD86DEE45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D86D-63DD-0A42-A9AF-3A542F501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956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9E2BA-C3F3-D5AC-E15F-0B910F411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11296-399B-2CD0-C46B-BD502F2BC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D5029-7D3B-4314-1C83-A0F3587B6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42BBD5-964C-66B7-7875-8960195C2C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B29622-F9A9-63CD-A1A3-DE043FBA39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47A5D-104F-067E-E2A7-2CB530DC7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FE41-8996-234B-B72D-C30FC0DB1D7E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596C1E-8F01-AFD4-A998-D38DC2DD4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300502-76EC-4CB8-C01A-F0D290FEC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D86D-63DD-0A42-A9AF-3A542F501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22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03C1F-AF69-F256-E999-976405FEA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FE85E-CA58-6EF4-B435-FD390E481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FE41-8996-234B-B72D-C30FC0DB1D7E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4174A2-55E0-FFCC-7A78-704D5C511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981E0B-56EA-BDDB-94D6-631B98ADF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D86D-63DD-0A42-A9AF-3A542F501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39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DB728D-4865-D6EC-42EE-9935A6346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FE41-8996-234B-B72D-C30FC0DB1D7E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E630D-1EB7-7384-4CD5-FCDB270F8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14E10-FA3F-90F5-EDFA-52C4B78A4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D86D-63DD-0A42-A9AF-3A542F501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88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98D31-08AA-3FF0-ED0F-DDA506E90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2FB72-D033-9514-DAD9-B09564853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BF2A40-E782-8F21-182B-0D354E03B2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49A02-38DD-BC00-63F2-D8E4BEEDF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FE41-8996-234B-B72D-C30FC0DB1D7E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DC1C8-129D-CD8D-57ED-984568057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ACDF8-9C4C-5F81-2C9C-7113577BE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D86D-63DD-0A42-A9AF-3A542F501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65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DCB10-18C2-3261-3E47-7947B7F08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A867AD-3CF4-81CF-7108-5DDC651371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B60BA7-451D-91FC-4C04-7A9769F66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926BF-1C6C-6D16-72A9-E7C265C5B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FE41-8996-234B-B72D-C30FC0DB1D7E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B46CD-9A3D-BD93-9E97-D9FBE3D2C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F428A-A882-79DB-C6EB-B84A5FFBB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D86D-63DD-0A42-A9AF-3A542F501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35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91EC5-A552-16BC-E6C4-5D21847DF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A7E03-A133-520D-76B3-7571C01C51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386C4-816A-FAEC-ADDD-E205C8B5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FE41-8996-234B-B72D-C30FC0DB1D7E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E3A5B-A15A-CBCA-87A1-1F8C9F378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B8D5B-6584-59DB-2108-C09C23B22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D86D-63DD-0A42-A9AF-3A542F501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05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25DB29-A96F-3CBF-2868-A221CEE8EB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E8B6DA-24C0-8AFB-1AA0-21B29C09FC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B76C8-8C7D-762A-68A3-92C33644E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FE41-8996-234B-B72D-C30FC0DB1D7E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2C2B4-0228-ACB2-E1B7-FCAEBC90C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BE669-AB6A-EBE4-BED4-9ABC20AEA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D86D-63DD-0A42-A9AF-3A542F501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04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351478-E908-B993-91F8-DB52C7363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4B57A-40DC-94EA-A5CF-9A38B8374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2227A-8572-651D-9768-59CF8AC219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40FE41-8996-234B-B72D-C30FC0DB1D7E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68C48-7879-5C3E-745F-55A338DBC9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627DE-ACF3-B350-BE17-D6C1BB306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10D86D-63DD-0A42-A9AF-3A542F501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879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508.03732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deas.repec.org/a/gam/jmathe/v9y2021i8p830-d533723.html" TargetMode="External"/><Relationship Id="rId2" Type="http://schemas.openxmlformats.org/officeDocument/2006/relationships/hyperlink" Target="https://www.sciencedirect.com/science/article/pii/S0957417424010832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2201.05575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F0BA5-6AF7-3C0E-92AF-F29B69B5F7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Multi-Graph Contextual Learning for Multimodal Meme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444CD2-BA0B-05C9-05C1-D0C7F0FC4D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Vishnu Chityala – E23CSEU0049</a:t>
            </a:r>
          </a:p>
          <a:p>
            <a:r>
              <a:rPr lang="en-US" sz="1800" dirty="0"/>
              <a:t>Harshil Uttaradhi – E23CSEU0073</a:t>
            </a:r>
          </a:p>
          <a:p>
            <a:r>
              <a:rPr lang="en-US" sz="1800" dirty="0"/>
              <a:t>Sutejas Hashia – E23CSEU0047</a:t>
            </a:r>
          </a:p>
        </p:txBody>
      </p:sp>
    </p:spTree>
    <p:extLst>
      <p:ext uri="{BB962C8B-B14F-4D97-AF65-F5344CB8AC3E}">
        <p14:creationId xmlns:p14="http://schemas.microsoft.com/office/powerpoint/2010/main" val="3862093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B312D-B87E-3E95-C657-968D4F532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97A44-D64C-3234-99AE-550E22DBC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/>
              <a:t>This work proposes a </a:t>
            </a:r>
            <a:r>
              <a:rPr lang="en-US" sz="2000" b="1" dirty="0"/>
              <a:t>multi-graph contextual classification framework for multimodal meme analysis</a:t>
            </a:r>
            <a:r>
              <a:rPr lang="en-US" sz="2000" dirty="0"/>
              <a:t> that leverages relationships between samples rather than treating them independently. Experiments are conducted on the </a:t>
            </a:r>
            <a:r>
              <a:rPr lang="en-US" sz="2000" b="1" dirty="0">
                <a:hlinkClick r:id="rId2"/>
              </a:rPr>
              <a:t>What’s Beneath Misogynous Stereotyping (WBMS) Dataset</a:t>
            </a:r>
            <a:r>
              <a:rPr lang="en-US" sz="2000" dirty="0"/>
              <a:t>, which contains meme images and captions annotated for misogynistic content. Text and image features are extracted using </a:t>
            </a:r>
            <a:r>
              <a:rPr lang="en-US" sz="2000" b="1" dirty="0"/>
              <a:t>BERT</a:t>
            </a:r>
            <a:r>
              <a:rPr lang="en-US" sz="2000" dirty="0"/>
              <a:t> and </a:t>
            </a:r>
            <a:r>
              <a:rPr lang="en-US" sz="2000" b="1" dirty="0"/>
              <a:t>CLIP</a:t>
            </a:r>
            <a:r>
              <a:rPr lang="en-US" sz="2000" dirty="0"/>
              <a:t>, respectively, and reduced using Principal Component Analysis (</a:t>
            </a:r>
            <a:r>
              <a:rPr lang="en-US" sz="2000" b="1" dirty="0"/>
              <a:t>PCA</a:t>
            </a:r>
            <a:r>
              <a:rPr lang="en-US" sz="2000" dirty="0"/>
              <a:t>). Three similarity graphs are then constructed using cosine similarity–based k-nearest neighbors (</a:t>
            </a:r>
            <a:r>
              <a:rPr lang="en-US" sz="2000" b="1" dirty="0"/>
              <a:t>KNN</a:t>
            </a:r>
            <a:r>
              <a:rPr lang="en-US" sz="2000" dirty="0"/>
              <a:t>): a text semantic graph, a visual semantic graph, and a class-discriminative graph obtained using Linear Discriminant Analysis (</a:t>
            </a:r>
            <a:r>
              <a:rPr lang="en-US" sz="2000" b="1" dirty="0"/>
              <a:t>LDA</a:t>
            </a:r>
            <a:r>
              <a:rPr lang="en-US" sz="2000" dirty="0"/>
              <a:t>). These graphs are processed using Graph Attention Networks (</a:t>
            </a:r>
            <a:r>
              <a:rPr lang="en-US" sz="2000" b="1" dirty="0"/>
              <a:t>GAT</a:t>
            </a:r>
            <a:r>
              <a:rPr lang="en-US" sz="2000" dirty="0"/>
              <a:t>) to learn contextual node representations through attention-based neighbor aggregation. The contextual features from the graphs are fused to perform final classification. This approach aims to incorporate dataset-level contextual information by modeling statistical relationships between samples in the embedding space.</a:t>
            </a:r>
          </a:p>
          <a:p>
            <a:pPr marL="0" indent="0">
              <a:buNone/>
            </a:pPr>
            <a:r>
              <a:rPr lang="en-US" sz="2000" b="1" dirty="0"/>
              <a:t>Keywords:  </a:t>
            </a:r>
            <a:r>
              <a:rPr lang="en-US" sz="2000" dirty="0"/>
              <a:t>Multimodal Meme Classification, Graph Neural Networks, Graph Attention Networks</a:t>
            </a:r>
          </a:p>
        </p:txBody>
      </p:sp>
    </p:spTree>
    <p:extLst>
      <p:ext uri="{BB962C8B-B14F-4D97-AF65-F5344CB8AC3E}">
        <p14:creationId xmlns:p14="http://schemas.microsoft.com/office/powerpoint/2010/main" val="63969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DD3C9-2E5B-AB77-1CCE-774E14873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8A13B4-2E08-6E16-D764-4859C57BC3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1933618"/>
              </p:ext>
            </p:extLst>
          </p:nvPr>
        </p:nvGraphicFramePr>
        <p:xfrm>
          <a:off x="989838" y="1825625"/>
          <a:ext cx="10212324" cy="4351338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553081">
                  <a:extLst>
                    <a:ext uri="{9D8B030D-6E8A-4147-A177-3AD203B41FA5}">
                      <a16:colId xmlns:a16="http://schemas.microsoft.com/office/drawing/2014/main" val="1194956563"/>
                    </a:ext>
                  </a:extLst>
                </a:gridCol>
                <a:gridCol w="2553081">
                  <a:extLst>
                    <a:ext uri="{9D8B030D-6E8A-4147-A177-3AD203B41FA5}">
                      <a16:colId xmlns:a16="http://schemas.microsoft.com/office/drawing/2014/main" val="1888156711"/>
                    </a:ext>
                  </a:extLst>
                </a:gridCol>
                <a:gridCol w="2553081">
                  <a:extLst>
                    <a:ext uri="{9D8B030D-6E8A-4147-A177-3AD203B41FA5}">
                      <a16:colId xmlns:a16="http://schemas.microsoft.com/office/drawing/2014/main" val="539645321"/>
                    </a:ext>
                  </a:extLst>
                </a:gridCol>
                <a:gridCol w="2553081">
                  <a:extLst>
                    <a:ext uri="{9D8B030D-6E8A-4147-A177-3AD203B41FA5}">
                      <a16:colId xmlns:a16="http://schemas.microsoft.com/office/drawing/2014/main" val="2689254765"/>
                    </a:ext>
                  </a:extLst>
                </a:gridCol>
              </a:tblGrid>
              <a:tr h="3552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/>
                        <a:t>Paper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/>
                        <a:t>Key Idea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/>
                        <a:t>Method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/>
                        <a:t>Contribution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3090878"/>
                  </a:ext>
                </a:extLst>
              </a:tr>
              <a:tr h="14208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hlinkClick r:id="rId2"/>
                        </a:rPr>
                        <a:t>KNN-GNN: Enhancing GNNs via Common Subspace</a:t>
                      </a:r>
                      <a:endParaRPr lang="en-US" sz="170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/>
                        <a:t>Improve GNN performance when graph connections do not reflect feature similarity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/>
                        <a:t>Learn a shared latent subspace and retrieve feature-similar neighbors using kNN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/>
                        <a:t>Enables aggregation from non-local but similar nodes; improves representation learning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750503"/>
                  </a:ext>
                </a:extLst>
              </a:tr>
              <a:tr h="14208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 err="1">
                          <a:hlinkClick r:id="rId3"/>
                        </a:rPr>
                        <a:t>kNNGNN</a:t>
                      </a:r>
                      <a:r>
                        <a:rPr lang="en-US" sz="1700" dirty="0">
                          <a:hlinkClick r:id="rId3"/>
                        </a:rPr>
                        <a:t>: Learning </a:t>
                      </a:r>
                      <a:r>
                        <a:rPr lang="en-US" sz="1700" dirty="0" err="1">
                          <a:hlinkClick r:id="rId3"/>
                        </a:rPr>
                        <a:t>kNN</a:t>
                      </a:r>
                      <a:r>
                        <a:rPr lang="en-US" sz="1700" dirty="0">
                          <a:hlinkClick r:id="rId3"/>
                        </a:rPr>
                        <a:t> Hyperparameters via GNNs</a:t>
                      </a:r>
                      <a:endParaRPr lang="en-US" sz="170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/>
                        <a:t>Reformulate kNN as a learnable graph-based model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/>
                        <a:t>Construct micro-graphs with query node and neighbors and apply Message Passing Neural Network (MPNN)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/>
                        <a:t>Learns similarity metrics and neighbor weights automatically instead of manual tuning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099847"/>
                  </a:ext>
                </a:extLst>
              </a:tr>
              <a:tr h="11544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 err="1">
                          <a:hlinkClick r:id="rId4"/>
                        </a:rPr>
                        <a:t>kNN</a:t>
                      </a:r>
                      <a:r>
                        <a:rPr lang="en-US" sz="1700" dirty="0">
                          <a:hlinkClick r:id="rId4"/>
                        </a:rPr>
                        <a:t>-KGE: Retrieval-Augmented Knowledge Graph Embedding</a:t>
                      </a:r>
                      <a:endParaRPr lang="en-US" sz="170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/>
                        <a:t>Use nearest neighbor retrieval to improve knowledge graph reasoning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/>
                        <a:t>Retrieve k nearest entities from a knowledge store using embedding similarity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/>
                        <a:t>Improves prediction for rare entities using external contextual memory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5668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3807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08525-023E-2A7E-E6D9-3397CD89B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Solution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6B0F1-A5EC-5B0C-2957-C6F385B5AB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Multi-Graph Contextual Learning for Multimodal Meme Classification</a:t>
            </a:r>
          </a:p>
          <a:p>
            <a:pPr marL="0" indent="0">
              <a:buNone/>
            </a:pPr>
            <a:r>
              <a:rPr lang="en-US" b="1" dirty="0"/>
              <a:t>Step 1 – Feature Extraction</a:t>
            </a:r>
            <a:endParaRPr lang="en-US" dirty="0"/>
          </a:p>
          <a:p>
            <a:r>
              <a:rPr lang="en-US" dirty="0"/>
              <a:t>Text embeddings: BERT</a:t>
            </a:r>
          </a:p>
          <a:p>
            <a:r>
              <a:rPr lang="en-US" dirty="0"/>
              <a:t>Image embeddings: CLIP</a:t>
            </a:r>
          </a:p>
          <a:p>
            <a:r>
              <a:rPr lang="en-US" dirty="0"/>
              <a:t>Dimensionality reduction using PCA</a:t>
            </a:r>
          </a:p>
          <a:p>
            <a:pPr marL="0" indent="0">
              <a:buNone/>
            </a:pPr>
            <a:r>
              <a:rPr lang="en-US" b="1" dirty="0"/>
              <a:t>Step 2 – Graph Construction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Three similarity graphs using cosine similarity and KNN:</a:t>
            </a:r>
          </a:p>
          <a:p>
            <a:r>
              <a:rPr lang="en-US" dirty="0"/>
              <a:t>Text Semantic Graph</a:t>
            </a:r>
          </a:p>
          <a:p>
            <a:r>
              <a:rPr lang="en-US" dirty="0"/>
              <a:t>Visual Semantic Graph</a:t>
            </a:r>
          </a:p>
          <a:p>
            <a:r>
              <a:rPr lang="en-US" dirty="0"/>
              <a:t>Class-Discriminative Graph (LDA projection)</a:t>
            </a:r>
          </a:p>
          <a:p>
            <a:pPr marL="0" indent="0">
              <a:buNone/>
            </a:pPr>
            <a:r>
              <a:rPr lang="en-US" b="1" dirty="0"/>
              <a:t>Step 3 – Contextual Learning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Graph Attention Networks aggregate neighbor information:</a:t>
            </a:r>
          </a:p>
          <a:p>
            <a:pPr marL="0" indent="0">
              <a:buNone/>
            </a:pPr>
            <a:r>
              <a:rPr lang="en-US" dirty="0"/>
              <a:t>hᵢ' = </a:t>
            </a:r>
            <a:r>
              <a:rPr lang="el-GR" dirty="0"/>
              <a:t>σ( Σ</a:t>
            </a:r>
            <a:r>
              <a:rPr lang="en-US" dirty="0"/>
              <a:t>ⱼ </a:t>
            </a:r>
            <a:r>
              <a:rPr lang="el-GR" dirty="0"/>
              <a:t>α</a:t>
            </a:r>
            <a:r>
              <a:rPr lang="en-US" dirty="0"/>
              <a:t>ᵢⱼ W hⱼ )</a:t>
            </a:r>
          </a:p>
          <a:p>
            <a:pPr marL="0" indent="0">
              <a:buNone/>
            </a:pPr>
            <a:r>
              <a:rPr lang="en-US" b="1" dirty="0"/>
              <a:t>Step 4 – Feature Fusion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Contextual representations from all graphs are fused for final classification.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A4B1788-53C5-0C63-E868-BA508360BC8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115767"/>
            <a:ext cx="5181600" cy="177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8473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FEF66-27D5-41AD-E6EC-0AE2FA14D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Preliminary Results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BEB7B-E8E3-E0AF-DE8D-5EDA51F4AA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/>
              <a:t>Preliminary experiments were conducted to evaluate the effect of incorporating class-semantic relationships before implementing the full multi-graph architecture. At this stage, the modality-specific graphs (text and visual graphs) were not included. Instead, the focus was on analyzing the impact of the class-semantic graph constructed in the LDA space.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9126B5E-E936-B923-8C1D-BC12A563AEF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201328"/>
            <a:ext cx="5181600" cy="1599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6323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16241-234F-D003-377F-1546BDC1F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CD75A-B78E-8F6D-71FA-A281A376F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b="1" dirty="0"/>
              <a:t>Completion of Multi-Graph Framework</a:t>
            </a:r>
            <a:endParaRPr lang="en-US" dirty="0"/>
          </a:p>
          <a:p>
            <a:pPr algn="just"/>
            <a:r>
              <a:rPr lang="en-US" dirty="0"/>
              <a:t>Integrate the </a:t>
            </a:r>
            <a:r>
              <a:rPr lang="en-US" b="1" dirty="0"/>
              <a:t>Text Semantic Graph</a:t>
            </a:r>
            <a:r>
              <a:rPr lang="en-US" dirty="0"/>
              <a:t> and </a:t>
            </a:r>
            <a:r>
              <a:rPr lang="en-US" b="1" dirty="0"/>
              <a:t>Visual Semantic Graph</a:t>
            </a:r>
            <a:r>
              <a:rPr lang="en-US" dirty="0"/>
              <a:t> with the current class-semantic graph.</a:t>
            </a:r>
          </a:p>
          <a:p>
            <a:pPr algn="just"/>
            <a:r>
              <a:rPr lang="en-US" dirty="0"/>
              <a:t>Perform joint contextual learning across all three graphs.</a:t>
            </a:r>
          </a:p>
          <a:p>
            <a:pPr marL="0" indent="0" algn="just">
              <a:buNone/>
            </a:pPr>
            <a:r>
              <a:rPr lang="en-US" b="1" dirty="0"/>
              <a:t>Improved Graph Fusion</a:t>
            </a:r>
            <a:endParaRPr lang="en-US" dirty="0"/>
          </a:p>
          <a:p>
            <a:pPr algn="just"/>
            <a:r>
              <a:rPr lang="en-US" dirty="0"/>
              <a:t>Explore advanced </a:t>
            </a:r>
            <a:r>
              <a:rPr lang="en-US" b="1" dirty="0"/>
              <a:t>feature fusion strategies</a:t>
            </a:r>
            <a:r>
              <a:rPr lang="en-US" dirty="0"/>
              <a:t> for combining contextual representations from multiple graphs.</a:t>
            </a:r>
          </a:p>
          <a:p>
            <a:pPr marL="0" indent="0" algn="just">
              <a:buNone/>
            </a:pPr>
            <a:r>
              <a:rPr lang="en-US" b="1" dirty="0"/>
              <a:t>Model Evaluation</a:t>
            </a:r>
            <a:endParaRPr lang="en-US" dirty="0"/>
          </a:p>
          <a:p>
            <a:pPr algn="just"/>
            <a:r>
              <a:rPr lang="en-US" dirty="0"/>
              <a:t>Conduct extensive experiments on the </a:t>
            </a:r>
            <a:r>
              <a:rPr lang="en-US" b="1" dirty="0"/>
              <a:t>WBMS dataset</a:t>
            </a:r>
            <a:r>
              <a:rPr lang="en-US" dirty="0"/>
              <a:t> using standard classification metrics.</a:t>
            </a:r>
          </a:p>
          <a:p>
            <a:pPr algn="just"/>
            <a:r>
              <a:rPr lang="en-US" dirty="0"/>
              <a:t>Perform ablation studies to evaluate the contribution of each graph component.</a:t>
            </a:r>
          </a:p>
          <a:p>
            <a:pPr marL="0" indent="0" algn="just">
              <a:buNone/>
            </a:pPr>
            <a:r>
              <a:rPr lang="en-US" b="1" dirty="0"/>
              <a:t>Generalization to Other Multimodal Tasks</a:t>
            </a:r>
            <a:endParaRPr lang="en-US" dirty="0"/>
          </a:p>
          <a:p>
            <a:pPr algn="just"/>
            <a:r>
              <a:rPr lang="en-US" dirty="0"/>
              <a:t>Apply the framework to other multimodal datasets such as meme sentiment analysis or multimodal misinformation detection.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905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3972E-71D8-3B3F-55DB-F1D6EA317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54624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562</Words>
  <Application>Microsoft Macintosh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Multi-Graph Contextual Learning for Multimodal Meme Classification</vt:lpstr>
      <vt:lpstr>ABSTRACT</vt:lpstr>
      <vt:lpstr>Literature Review</vt:lpstr>
      <vt:lpstr>Proposed Solution</vt:lpstr>
      <vt:lpstr>Preliminary Results</vt:lpstr>
      <vt:lpstr>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  Chityala</dc:creator>
  <cp:lastModifiedBy>Vishnu  Chityala</cp:lastModifiedBy>
  <cp:revision>14</cp:revision>
  <dcterms:created xsi:type="dcterms:W3CDTF">2026-03-12T21:06:22Z</dcterms:created>
  <dcterms:modified xsi:type="dcterms:W3CDTF">2026-03-12T21:25:22Z</dcterms:modified>
</cp:coreProperties>
</file>